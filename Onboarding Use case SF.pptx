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4"/>
    <p:sldMasterId id="214748367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embeddedFontLst>
    <p:embeddedFont>
      <p:font typeface="Hanken Grotesk Medium"/>
      <p:regular r:id="rId17"/>
      <p:bold r:id="rId18"/>
      <p:italic r:id="rId19"/>
      <p:boldItalic r:id="rId20"/>
    </p:embeddedFont>
    <p:embeddedFont>
      <p:font typeface="Roboto"/>
      <p:regular r:id="rId21"/>
      <p:bold r:id="rId22"/>
      <p:italic r:id="rId23"/>
      <p:boldItalic r:id="rId24"/>
    </p:embeddedFont>
    <p:embeddedFont>
      <p:font typeface="Hanken Grotesk SemiBold"/>
      <p:regular r:id="rId25"/>
      <p:bold r:id="rId26"/>
      <p:italic r:id="rId27"/>
      <p:boldItalic r:id="rId28"/>
    </p:embeddedFont>
    <p:embeddedFont>
      <p:font typeface="Lora SemiBold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HankenGroteskMedium-boldItalic.fntdata"/><Relationship Id="rId22" Type="http://schemas.openxmlformats.org/officeDocument/2006/relationships/font" Target="fonts/Roboto-bold.fntdata"/><Relationship Id="rId21" Type="http://schemas.openxmlformats.org/officeDocument/2006/relationships/font" Target="fonts/Roboto-regular.fntdata"/><Relationship Id="rId24" Type="http://schemas.openxmlformats.org/officeDocument/2006/relationships/font" Target="fonts/Roboto-boldItalic.fntdata"/><Relationship Id="rId23" Type="http://schemas.openxmlformats.org/officeDocument/2006/relationships/font" Target="fonts/Robot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HankenGroteskSemiBold-bold.fntdata"/><Relationship Id="rId25" Type="http://schemas.openxmlformats.org/officeDocument/2006/relationships/font" Target="fonts/HankenGroteskSemiBold-regular.fntdata"/><Relationship Id="rId28" Type="http://schemas.openxmlformats.org/officeDocument/2006/relationships/font" Target="fonts/HankenGroteskSemiBold-boldItalic.fntdata"/><Relationship Id="rId27" Type="http://schemas.openxmlformats.org/officeDocument/2006/relationships/font" Target="fonts/HankenGroteskSemiBold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LoraSemiBold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LoraSemiBold-italic.fntdata"/><Relationship Id="rId30" Type="http://schemas.openxmlformats.org/officeDocument/2006/relationships/font" Target="fonts/LoraSemiBold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schemas.openxmlformats.org/officeDocument/2006/relationships/font" Target="fonts/LoraSemiBold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HankenGroteskMedium-regular.fntdata"/><Relationship Id="rId16" Type="http://schemas.openxmlformats.org/officeDocument/2006/relationships/slide" Target="slides/slide10.xml"/><Relationship Id="rId19" Type="http://schemas.openxmlformats.org/officeDocument/2006/relationships/font" Target="fonts/HankenGroteskMedium-italic.fntdata"/><Relationship Id="rId18" Type="http://schemas.openxmlformats.org/officeDocument/2006/relationships/font" Target="fonts/HankenGroteskMedium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bf82c04de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g3bf82c04de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bf80362157_2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3bf80362157_2_8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bf80362157_2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g3bf80362157_2_8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bf80362157_2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g3bf80362157_2_11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bf80362157_2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g3bf80362157_2_9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bf80362157_2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3bf80362157_2_9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bf80362157_2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g3bf80362157_2_11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bf80362157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g3bf80362157_0_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bf80362157_2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g3bf80362157_2_12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bf80362157_2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g3bf80362157_2_10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dark photo flower">
  <p:cSld name="TITLE_1_1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/>
          <p:cNvPicPr preferRelativeResize="0"/>
          <p:nvPr/>
        </p:nvPicPr>
        <p:blipFill rotWithShape="1">
          <a:blip r:embed="rId2">
            <a:alphaModFix/>
          </a:blip>
          <a:srcRect b="2623" l="3804" r="38212" t="5006"/>
          <a:stretch/>
        </p:blipFill>
        <p:spPr>
          <a:xfrm>
            <a:off x="3406950" y="0"/>
            <a:ext cx="573705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3"/>
          <p:cNvSpPr txBox="1"/>
          <p:nvPr>
            <p:ph type="ctrTitle"/>
          </p:nvPr>
        </p:nvSpPr>
        <p:spPr>
          <a:xfrm>
            <a:off x="342900" y="1876775"/>
            <a:ext cx="5529600" cy="15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Lora SemiBold"/>
              <a:buNone/>
              <a:defRPr sz="3800">
                <a:solidFill>
                  <a:schemeClr val="lt1"/>
                </a:solidFill>
                <a:latin typeface="Lora SemiBold"/>
                <a:ea typeface="Lora SemiBold"/>
                <a:cs typeface="Lora SemiBold"/>
                <a:sym typeface="Lora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/>
        </p:txBody>
      </p:sp>
      <p:sp>
        <p:nvSpPr>
          <p:cNvPr id="53" name="Google Shape;53;p13"/>
          <p:cNvSpPr txBox="1"/>
          <p:nvPr>
            <p:ph idx="1" type="subTitle"/>
          </p:nvPr>
        </p:nvSpPr>
        <p:spPr>
          <a:xfrm>
            <a:off x="342900" y="1809700"/>
            <a:ext cx="5210400" cy="7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58FF"/>
              </a:buClr>
              <a:buSzPts val="1500"/>
              <a:buNone/>
              <a:defRPr b="1" sz="1500">
                <a:solidFill>
                  <a:srgbClr val="1958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54" name="Google Shape;54;p13"/>
          <p:cNvSpPr txBox="1"/>
          <p:nvPr>
            <p:ph idx="2" type="subTitle"/>
          </p:nvPr>
        </p:nvSpPr>
        <p:spPr>
          <a:xfrm>
            <a:off x="342900" y="4504625"/>
            <a:ext cx="5210400" cy="2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Hanken Grotesk SemiBold"/>
              <a:buNone/>
              <a:defRPr sz="1000">
                <a:solidFill>
                  <a:schemeClr val="lt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Hanken Grotesk SemiBold"/>
              <a:buNone/>
              <a:defRPr sz="1000">
                <a:solidFill>
                  <a:schemeClr val="lt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Hanken Grotesk SemiBold"/>
              <a:buNone/>
              <a:defRPr sz="1000">
                <a:solidFill>
                  <a:schemeClr val="lt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Hanken Grotesk SemiBold"/>
              <a:buNone/>
              <a:defRPr sz="1000">
                <a:solidFill>
                  <a:schemeClr val="lt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Hanken Grotesk SemiBold"/>
              <a:buNone/>
              <a:defRPr sz="1000">
                <a:solidFill>
                  <a:schemeClr val="lt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Hanken Grotesk SemiBold"/>
              <a:buNone/>
              <a:defRPr sz="1000">
                <a:solidFill>
                  <a:schemeClr val="lt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Hanken Grotesk SemiBold"/>
              <a:buNone/>
              <a:defRPr sz="1000">
                <a:solidFill>
                  <a:schemeClr val="lt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Hanken Grotesk SemiBold"/>
              <a:buNone/>
              <a:defRPr sz="1000">
                <a:solidFill>
                  <a:schemeClr val="lt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Hanken Grotesk SemiBold"/>
              <a:buNone/>
              <a:defRPr sz="1000">
                <a:solidFill>
                  <a:schemeClr val="lt1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pic>
        <p:nvPicPr>
          <p:cNvPr id="55" name="Google Shape;5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1575" y="419524"/>
            <a:ext cx="3162051" cy="3582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dk1"/>
                </a:solidFill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>
              <a:buNone/>
              <a:defRPr sz="1300">
                <a:solidFill>
                  <a:schemeClr val="dk1"/>
                </a:solidFill>
                <a:latin typeface="Hanken Grotesk Medium"/>
                <a:ea typeface="Hanken Grotesk Medium"/>
                <a:cs typeface="Hanken Grotesk Medium"/>
                <a:sym typeface="Hanken Grotesk Medium"/>
              </a:defRPr>
            </a:lvl2pPr>
            <a:lvl3pPr lvl="2">
              <a:buNone/>
              <a:defRPr sz="1300">
                <a:solidFill>
                  <a:schemeClr val="dk1"/>
                </a:solidFill>
                <a:latin typeface="Hanken Grotesk Medium"/>
                <a:ea typeface="Hanken Grotesk Medium"/>
                <a:cs typeface="Hanken Grotesk Medium"/>
                <a:sym typeface="Hanken Grotesk Medium"/>
              </a:defRPr>
            </a:lvl3pPr>
            <a:lvl4pPr lvl="3">
              <a:buNone/>
              <a:defRPr sz="1300">
                <a:solidFill>
                  <a:schemeClr val="dk1"/>
                </a:solidFill>
                <a:latin typeface="Hanken Grotesk Medium"/>
                <a:ea typeface="Hanken Grotesk Medium"/>
                <a:cs typeface="Hanken Grotesk Medium"/>
                <a:sym typeface="Hanken Grotesk Medium"/>
              </a:defRPr>
            </a:lvl4pPr>
            <a:lvl5pPr lvl="4">
              <a:buNone/>
              <a:defRPr sz="1300">
                <a:solidFill>
                  <a:schemeClr val="dk1"/>
                </a:solidFill>
                <a:latin typeface="Hanken Grotesk Medium"/>
                <a:ea typeface="Hanken Grotesk Medium"/>
                <a:cs typeface="Hanken Grotesk Medium"/>
                <a:sym typeface="Hanken Grotesk Medium"/>
              </a:defRPr>
            </a:lvl5pPr>
            <a:lvl6pPr lvl="5">
              <a:buNone/>
              <a:defRPr sz="1300">
                <a:solidFill>
                  <a:schemeClr val="dk1"/>
                </a:solidFill>
                <a:latin typeface="Hanken Grotesk Medium"/>
                <a:ea typeface="Hanken Grotesk Medium"/>
                <a:cs typeface="Hanken Grotesk Medium"/>
                <a:sym typeface="Hanken Grotesk Medium"/>
              </a:defRPr>
            </a:lvl6pPr>
            <a:lvl7pPr lvl="6">
              <a:buNone/>
              <a:defRPr sz="1300">
                <a:solidFill>
                  <a:schemeClr val="dk1"/>
                </a:solidFill>
                <a:latin typeface="Hanken Grotesk Medium"/>
                <a:ea typeface="Hanken Grotesk Medium"/>
                <a:cs typeface="Hanken Grotesk Medium"/>
                <a:sym typeface="Hanken Grotesk Medium"/>
              </a:defRPr>
            </a:lvl7pPr>
            <a:lvl8pPr lvl="7">
              <a:buNone/>
              <a:defRPr sz="1300">
                <a:solidFill>
                  <a:schemeClr val="dk1"/>
                </a:solidFill>
                <a:latin typeface="Hanken Grotesk Medium"/>
                <a:ea typeface="Hanken Grotesk Medium"/>
                <a:cs typeface="Hanken Grotesk Medium"/>
                <a:sym typeface="Hanken Grotesk Medium"/>
              </a:defRPr>
            </a:lvl8pPr>
            <a:lvl9pPr lvl="8">
              <a:buNone/>
              <a:defRPr sz="1300">
                <a:solidFill>
                  <a:schemeClr val="dk1"/>
                </a:solidFill>
                <a:latin typeface="Hanken Grotesk Medium"/>
                <a:ea typeface="Hanken Grotesk Medium"/>
                <a:cs typeface="Hanken Grotesk Medium"/>
                <a:sym typeface="Hanken Grotesk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216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6" name="Google Shape;66;p15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>
            <p:ph type="title"/>
          </p:nvPr>
        </p:nvSpPr>
        <p:spPr>
          <a:xfrm>
            <a:off x="722313" y="3305175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8" name="Google Shape;78;p17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" type="body"/>
          </p:nvPr>
        </p:nvSpPr>
        <p:spPr>
          <a:xfrm>
            <a:off x="457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84" name="Google Shape;84;p18"/>
          <p:cNvSpPr txBox="1"/>
          <p:nvPr>
            <p:ph idx="2" type="body"/>
          </p:nvPr>
        </p:nvSpPr>
        <p:spPr>
          <a:xfrm>
            <a:off x="4648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85" name="Google Shape;85;p18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8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8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9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91" name="Google Shape;91;p19"/>
          <p:cNvSpPr txBox="1"/>
          <p:nvPr>
            <p:ph idx="2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92" name="Google Shape;92;p19"/>
          <p:cNvSpPr txBox="1"/>
          <p:nvPr>
            <p:ph idx="3" type="body"/>
          </p:nvPr>
        </p:nvSpPr>
        <p:spPr>
          <a:xfrm>
            <a:off x="4645025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93" name="Google Shape;93;p19"/>
          <p:cNvSpPr txBox="1"/>
          <p:nvPr>
            <p:ph idx="4" type="body"/>
          </p:nvPr>
        </p:nvSpPr>
        <p:spPr>
          <a:xfrm>
            <a:off x="4645025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94" name="Google Shape;94;p19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9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9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0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0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0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457200" y="204788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2"/>
          <p:cNvSpPr txBox="1"/>
          <p:nvPr>
            <p:ph idx="1" type="body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09" name="Google Shape;109;p22"/>
          <p:cNvSpPr txBox="1"/>
          <p:nvPr>
            <p:ph idx="2" type="body"/>
          </p:nvPr>
        </p:nvSpPr>
        <p:spPr>
          <a:xfrm>
            <a:off x="457200" y="1076325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3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16" name="Google Shape;116;p23"/>
          <p:cNvSpPr txBox="1"/>
          <p:nvPr>
            <p:ph idx="1" type="body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17" name="Google Shape;117;p2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2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" type="body"/>
          </p:nvPr>
        </p:nvSpPr>
        <p:spPr>
          <a:xfrm rot="5400000">
            <a:off x="2874764" y="-1217414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2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5"/>
          <p:cNvSpPr txBox="1"/>
          <p:nvPr>
            <p:ph type="title"/>
          </p:nvPr>
        </p:nvSpPr>
        <p:spPr>
          <a:xfrm rot="5400000">
            <a:off x="5463778" y="1371600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25"/>
          <p:cNvSpPr txBox="1"/>
          <p:nvPr>
            <p:ph idx="1" type="body"/>
          </p:nvPr>
        </p:nvSpPr>
        <p:spPr>
          <a:xfrm rot="5400000">
            <a:off x="1272778" y="-609600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9" name="Google Shape;129;p25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25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5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2" Type="http://schemas.openxmlformats.org/officeDocument/2006/relationships/theme" Target="../theme/theme3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9" name="Google Shape;59;p14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" name="Google Shape;61;p1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1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6"/>
          <p:cNvSpPr txBox="1"/>
          <p:nvPr>
            <p:ph type="ctrTitle"/>
          </p:nvPr>
        </p:nvSpPr>
        <p:spPr>
          <a:xfrm>
            <a:off x="342900" y="2267500"/>
            <a:ext cx="4636200" cy="1196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20"/>
              <a:t>LAB </a:t>
            </a:r>
            <a:r>
              <a:rPr lang="en" sz="2520"/>
              <a:t>Process Intelligence</a:t>
            </a:r>
            <a:endParaRPr sz="2520"/>
          </a:p>
        </p:txBody>
      </p:sp>
      <p:sp>
        <p:nvSpPr>
          <p:cNvPr id="137" name="Google Shape;137;p26"/>
          <p:cNvSpPr txBox="1"/>
          <p:nvPr>
            <p:ph idx="1" type="subTitle"/>
          </p:nvPr>
        </p:nvSpPr>
        <p:spPr>
          <a:xfrm>
            <a:off x="283100" y="2342850"/>
            <a:ext cx="5210400" cy="4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 sz="1800"/>
              <a:t>Onboarding Use Case SAP Finance</a:t>
            </a:r>
            <a:endParaRPr sz="1800">
              <a:highlight>
                <a:srgbClr val="000000"/>
              </a:highlight>
            </a:endParaRPr>
          </a:p>
        </p:txBody>
      </p:sp>
      <p:sp>
        <p:nvSpPr>
          <p:cNvPr id="138" name="Google Shape;138;p26"/>
          <p:cNvSpPr txBox="1"/>
          <p:nvPr>
            <p:ph idx="2" type="subTitle"/>
          </p:nvPr>
        </p:nvSpPr>
        <p:spPr>
          <a:xfrm>
            <a:off x="342900" y="4504625"/>
            <a:ext cx="5210400" cy="2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275"/>
              <a:t>Janvier </a:t>
            </a:r>
            <a:r>
              <a:rPr lang="en" sz="1275"/>
              <a:t>2026</a:t>
            </a:r>
            <a:endParaRPr sz="1275"/>
          </a:p>
        </p:txBody>
      </p:sp>
      <p:sp>
        <p:nvSpPr>
          <p:cNvPr id="139" name="Google Shape;139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7"/>
          <p:cNvSpPr txBox="1"/>
          <p:nvPr>
            <p:ph type="title"/>
          </p:nvPr>
        </p:nvSpPr>
        <p:spPr>
          <a:xfrm>
            <a:off x="0" y="194000"/>
            <a:ext cx="9144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60"/>
              <a:buFont typeface="Calibri"/>
              <a:buNone/>
            </a:pPr>
            <a:r>
              <a:rPr b="1" lang="en" sz="3560">
                <a:solidFill>
                  <a:srgbClr val="0000FF"/>
                </a:solidFill>
              </a:rPr>
              <a:t>Première stream d’Use case SAP Finance : Account Payable:</a:t>
            </a:r>
            <a:endParaRPr b="1" sz="3560">
              <a:solidFill>
                <a:srgbClr val="0000FF"/>
              </a:solidFill>
            </a:endParaRPr>
          </a:p>
        </p:txBody>
      </p:sp>
      <p:sp>
        <p:nvSpPr>
          <p:cNvPr id="145" name="Google Shape;145;p27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"/>
              <a:t>Problématique métier:</a:t>
            </a:r>
            <a:endParaRPr b="1"/>
          </a:p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D</a:t>
            </a:r>
            <a:r>
              <a:rPr lang="en" sz="2000"/>
              <a:t>élais paiement fournisseurs</a:t>
            </a:r>
            <a:endParaRPr sz="2000"/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" sz="3200">
                <a:solidFill>
                  <a:schemeClr val="dk1"/>
                </a:solidFill>
              </a:rPr>
              <a:t>Processus cible</a:t>
            </a: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: </a:t>
            </a: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</a:t>
            </a:r>
            <a:r>
              <a:rPr lang="en" sz="2000"/>
              <a:t>c</a:t>
            </a:r>
            <a:r>
              <a:rPr lang="en" sz="2000"/>
              <a:t>ount Payable</a:t>
            </a:r>
            <a:endParaRPr sz="2000"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"/>
              <a:t>Gains ou valeur à atteindre</a:t>
            </a: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endParaRPr/>
          </a:p>
          <a:p>
            <a:pPr indent="-372419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65"/>
              <a:buChar char="-"/>
            </a:pPr>
            <a:r>
              <a:rPr lang="en" sz="2265"/>
              <a:t>Améliorer les délais de paiement fournisseur pour optimiser le flux de trésorerie et assurer la conformité réglementaire</a:t>
            </a:r>
            <a:endParaRPr sz="3665"/>
          </a:p>
          <a:p>
            <a:pPr indent="-372419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65"/>
              <a:buChar char="-"/>
            </a:pPr>
            <a:r>
              <a:rPr lang="en" sz="2092"/>
              <a:t>Améliorer le cash flow, réduire le délai de paiement, améliorer la </a:t>
            </a:r>
            <a:r>
              <a:rPr lang="en" sz="2092"/>
              <a:t>réglementation</a:t>
            </a:r>
            <a:r>
              <a:rPr lang="en" sz="2092"/>
              <a:t> , cash discount</a:t>
            </a:r>
            <a:endParaRPr sz="2092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8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" sz="4400">
                <a:solidFill>
                  <a:srgbClr val="1958FF"/>
                </a:solidFill>
              </a:rPr>
              <a:t>Objectifs du projet</a:t>
            </a:r>
            <a:endParaRPr b="1">
              <a:solidFill>
                <a:srgbClr val="1958FF"/>
              </a:solidFill>
            </a:endParaRPr>
          </a:p>
        </p:txBody>
      </p:sp>
      <p:sp>
        <p:nvSpPr>
          <p:cNvPr id="151" name="Google Shape;151;p28"/>
          <p:cNvSpPr txBox="1"/>
          <p:nvPr>
            <p:ph idx="1" type="body"/>
          </p:nvPr>
        </p:nvSpPr>
        <p:spPr>
          <a:xfrm>
            <a:off x="457200" y="1299075"/>
            <a:ext cx="8229600" cy="14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8735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•"/>
            </a:pPr>
            <a:r>
              <a:rPr lang="en" sz="2100">
                <a:solidFill>
                  <a:srgbClr val="303030"/>
                </a:solidFill>
                <a:latin typeface="Roboto"/>
                <a:ea typeface="Roboto"/>
                <a:cs typeface="Roboto"/>
                <a:sym typeface="Roboto"/>
              </a:rPr>
              <a:t>amélioration des délais de paiement fournisseur pour optimiser le flux de trésorerie et assurer la conformité réglementaire ( Cash flow, delai de paiement, cash discount…)</a:t>
            </a:r>
            <a:endParaRPr sz="2100">
              <a:solidFill>
                <a:srgbClr val="30303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30303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" name="Google Shape;152;p28"/>
          <p:cNvSpPr txBox="1"/>
          <p:nvPr/>
        </p:nvSpPr>
        <p:spPr>
          <a:xfrm>
            <a:off x="526300" y="4413825"/>
            <a:ext cx="841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03030"/>
                </a:solidFill>
                <a:latin typeface="Roboto"/>
                <a:ea typeface="Roboto"/>
                <a:cs typeface="Roboto"/>
                <a:sym typeface="Roboto"/>
              </a:rPr>
              <a:t>NB: L’use case peut </a:t>
            </a:r>
            <a:r>
              <a:rPr lang="en">
                <a:solidFill>
                  <a:srgbClr val="303030"/>
                </a:solidFill>
                <a:latin typeface="Roboto"/>
                <a:ea typeface="Roboto"/>
                <a:cs typeface="Roboto"/>
                <a:sym typeface="Roboto"/>
              </a:rPr>
              <a:t>être</a:t>
            </a:r>
            <a:r>
              <a:rPr lang="en">
                <a:solidFill>
                  <a:srgbClr val="303030"/>
                </a:solidFill>
                <a:latin typeface="Roboto"/>
                <a:ea typeface="Roboto"/>
                <a:cs typeface="Roboto"/>
                <a:sym typeface="Roboto"/>
              </a:rPr>
              <a:t> enrichi au fil de temps par d’autres objectifs et KPIS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9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>
                <a:solidFill>
                  <a:srgbClr val="1958FF"/>
                </a:solidFill>
              </a:rPr>
              <a:t>Scope technique</a:t>
            </a:r>
            <a:endParaRPr>
              <a:solidFill>
                <a:srgbClr val="1958FF"/>
              </a:solidFill>
            </a:endParaRPr>
          </a:p>
        </p:txBody>
      </p:sp>
      <p:sp>
        <p:nvSpPr>
          <p:cNvPr id="158" name="Google Shape;158;p29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Sources des données : </a:t>
            </a: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lang="en" sz="2000"/>
              <a:t>asna et Gabriel ( chercher des données )</a:t>
            </a:r>
            <a:endParaRPr sz="2000"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Tables clés : </a:t>
            </a: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tables transactionnelles SAP</a:t>
            </a:r>
            <a:r>
              <a:rPr lang="en" sz="2000"/>
              <a:t>. Exemples :</a:t>
            </a: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BSEG, BKPF (</a:t>
            </a:r>
            <a:r>
              <a:rPr lang="en" sz="2000">
                <a:solidFill>
                  <a:srgbClr val="303030"/>
                </a:solidFill>
              </a:rPr>
              <a:t>transactionnelles finance</a:t>
            </a:r>
            <a:r>
              <a:rPr lang="en" sz="1200">
                <a:solidFill>
                  <a:srgbClr val="303030"/>
                </a:solidFill>
                <a:latin typeface="Roboto"/>
                <a:ea typeface="Roboto"/>
                <a:cs typeface="Roboto"/>
                <a:sym typeface="Roboto"/>
              </a:rPr>
              <a:t>) </a:t>
            </a: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LFA1(</a:t>
            </a:r>
            <a:r>
              <a:rPr lang="en" sz="2000">
                <a:solidFill>
                  <a:srgbClr val="303030"/>
                </a:solidFill>
                <a:latin typeface="Roboto"/>
                <a:ea typeface="Roboto"/>
                <a:cs typeface="Roboto"/>
                <a:sym typeface="Roboto"/>
              </a:rPr>
              <a:t>master data fournisseur</a:t>
            </a:r>
            <a:r>
              <a:rPr lang="en" sz="1200">
                <a:solidFill>
                  <a:srgbClr val="303030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</a:t>
            </a:r>
            <a:endParaRPr sz="2000"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"/>
              <a:t>Environnement Celonis: </a:t>
            </a:r>
            <a:r>
              <a:rPr lang="en" sz="2000"/>
              <a:t>Sandbox</a:t>
            </a:r>
            <a:endParaRPr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0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" sz="4400">
                <a:solidFill>
                  <a:srgbClr val="1958FF"/>
                </a:solidFill>
              </a:rPr>
              <a:t>KPIs clés </a:t>
            </a:r>
            <a:r>
              <a:rPr b="1" lang="en">
                <a:solidFill>
                  <a:srgbClr val="1958FF"/>
                </a:solidFill>
              </a:rPr>
              <a:t>prioritaires</a:t>
            </a:r>
            <a:endParaRPr b="1">
              <a:solidFill>
                <a:srgbClr val="1958FF"/>
              </a:solidFill>
            </a:endParaRPr>
          </a:p>
        </p:txBody>
      </p:sp>
      <p:sp>
        <p:nvSpPr>
          <p:cNvPr id="164" name="Google Shape;164;p30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1800" lvl="0" marL="342900" rtl="0" algn="l"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" sz="2800"/>
              <a:t>D</a:t>
            </a:r>
            <a:r>
              <a:rPr lang="en" sz="2800"/>
              <a:t>élai de paiement</a:t>
            </a:r>
            <a:endParaRPr sz="2800"/>
          </a:p>
          <a:p>
            <a:pPr indent="-406400" lvl="0" marL="342900" rtl="0" algn="l">
              <a:spcBef>
                <a:spcPts val="640"/>
              </a:spcBef>
              <a:spcAft>
                <a:spcPts val="0"/>
              </a:spcAft>
              <a:buSzPts val="2800"/>
              <a:buChar char="•"/>
            </a:pPr>
            <a:r>
              <a:rPr lang="en" sz="2800"/>
              <a:t>Impact Cash</a:t>
            </a:r>
            <a:endParaRPr sz="2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1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rgbClr val="1958FF"/>
                </a:solidFill>
                <a:latin typeface="Calibri"/>
                <a:ea typeface="Calibri"/>
                <a:cs typeface="Calibri"/>
                <a:sym typeface="Calibri"/>
              </a:rPr>
              <a:t>Périmètre du use case</a:t>
            </a:r>
            <a:endParaRPr>
              <a:solidFill>
                <a:srgbClr val="1958FF"/>
              </a:solidFill>
            </a:endParaRPr>
          </a:p>
        </p:txBody>
      </p:sp>
      <p:sp>
        <p:nvSpPr>
          <p:cNvPr id="170" name="Google Shape;170;p31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Période analysée: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"/>
              <a:t> Secteur: 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/>
              <a:t>En attente des données 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2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>
                <a:solidFill>
                  <a:srgbClr val="1958FF"/>
                </a:solidFill>
              </a:rPr>
              <a:t>Estimation de l’effort</a:t>
            </a:r>
            <a:endParaRPr>
              <a:solidFill>
                <a:srgbClr val="1958FF"/>
              </a:solidFill>
            </a:endParaRPr>
          </a:p>
        </p:txBody>
      </p:sp>
      <p:sp>
        <p:nvSpPr>
          <p:cNvPr id="176" name="Google Shape;176;p32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"/>
              <a:t>2h par semaine: Prod et points d’équipe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rgbClr val="1958FF"/>
                </a:solidFill>
                <a:latin typeface="Calibri"/>
                <a:ea typeface="Calibri"/>
                <a:cs typeface="Calibri"/>
                <a:sym typeface="Calibri"/>
              </a:rPr>
              <a:t>Planning macro</a:t>
            </a:r>
            <a:endParaRPr>
              <a:solidFill>
                <a:srgbClr val="1958FF"/>
              </a:solidFill>
            </a:endParaRPr>
          </a:p>
        </p:txBody>
      </p:sp>
      <p:sp>
        <p:nvSpPr>
          <p:cNvPr id="182" name="Google Shape;182;p33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"/>
              <a:t>Voir fichier excel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4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rgbClr val="1958FF"/>
                </a:solidFill>
                <a:latin typeface="Calibri"/>
                <a:ea typeface="Calibri"/>
                <a:cs typeface="Calibri"/>
                <a:sym typeface="Calibri"/>
              </a:rPr>
              <a:t>Livrables &amp; prochaines étapes</a:t>
            </a:r>
            <a:endParaRPr>
              <a:solidFill>
                <a:srgbClr val="1958FF"/>
              </a:solidFill>
            </a:endParaRPr>
          </a:p>
        </p:txBody>
      </p:sp>
      <p:sp>
        <p:nvSpPr>
          <p:cNvPr id="188" name="Google Shape;188;p34"/>
          <p:cNvSpPr txBox="1"/>
          <p:nvPr>
            <p:ph idx="1" type="body"/>
          </p:nvPr>
        </p:nvSpPr>
        <p:spPr>
          <a:xfrm>
            <a:off x="457200" y="1282675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"/>
              <a:t>Scope Use case validé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Kickoff projet &amp; kickoff IT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5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">
                <a:solidFill>
                  <a:srgbClr val="1958FF"/>
                </a:solidFill>
              </a:rPr>
              <a:t>Les factures: à revoir quand les données seront disponibles</a:t>
            </a:r>
            <a:endParaRPr>
              <a:solidFill>
                <a:srgbClr val="1958FF"/>
              </a:solidFill>
            </a:endParaRPr>
          </a:p>
        </p:txBody>
      </p:sp>
      <p:sp>
        <p:nvSpPr>
          <p:cNvPr id="194" name="Google Shape;194;p35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Factures payées en retard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Factures payées trop tôt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Escomptes non capturés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Factures bloquées et causes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Fournisseurs à risque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